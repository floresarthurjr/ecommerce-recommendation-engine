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3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C6C89-EF0B-7ACB-480E-44437846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EB9AC-4EDC-5410-B56B-01DADA0E9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47FF-6767-5040-352C-5D53893C3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D3694-C5B7-5CCB-F092-E95C66E98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0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54851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eCommerce Recommendation Engine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Personalized Product Suggestions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25400">
            <a:solidFill>
              <a:srgbClr val="D48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C. Flores Jr.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AIML Capstone Project  |  Pillar 5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Customer Shopping Trends (3,900 customers, 25 products)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82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016955"/>
            <a:ext cx="3383280" cy="2229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"most popular" recommendations are shown to all customers regardless of their preferences</a:t>
            </a:r>
            <a:endParaRPr lang="en-US" sz="1200" dirty="0"/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fails to personalize the shopping experience so we will aim to </a:t>
            </a:r>
            <a:r>
              <a:rPr lang="en-US" sz="1200" dirty="0"/>
              <a:t>increase Average Order Value (AOV) and customer retention</a:t>
            </a: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tailor recommendations to individual behavior and demographics to drive revenue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463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 Problem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016955"/>
            <a:ext cx="3383280" cy="2229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Given a user's demographic profile and product attributes, predict and rank the Top-K items they are most likely to purchase</a:t>
            </a:r>
          </a:p>
          <a:p>
            <a:pPr marL="171450" indent="-1714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NDCG@10 (Normalized Discounted Cumulative Gain)</a:t>
            </a:r>
            <a:endParaRPr lang="en-US" sz="1200" dirty="0"/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Precision and Recall (Module 4) to ranking-aware variants for evaluating recommendation quality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framing ensures technical decisions are grounded in business outcomes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 &amp; Key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5123" y="1097280"/>
            <a:ext cx="275023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rows  ×  18 columns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15171" y="10972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engineered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73152" cy="9144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5123" y="2194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sparse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15171" y="2194560"/>
            <a:ext cx="117394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transaction per customer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73152" cy="9144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0399" y="3291839"/>
            <a:ext cx="255856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Male / 32% Female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3108960"/>
          </a:xfrm>
          <a:prstGeom prst="rect">
            <a:avLst/>
          </a:prstGeom>
          <a:solidFill>
            <a:srgbClr val="1B3A5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463038"/>
            <a:ext cx="3474720" cy="2743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train/test split impossible, so we adapted to demographic-stratified random split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 descriptions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adapted to multi-hot encoding on Category, Size, Color, Season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transaction per user</a:t>
            </a:r>
            <a:endParaRPr lang="en-US" sz="1300" dirty="0"/>
          </a:p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expected to underperform which was anticipated and documented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imbalance (68/32)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Step 5 bias auditing from the outset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" y="4717952"/>
            <a:ext cx="9143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zero nulls, zero duplicates, zero outliers via IQR</a:t>
            </a:r>
            <a:endParaRPr lang="en-US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55D005-0DD7-B6DF-A806-EF65F6538A68}"/>
              </a:ext>
            </a:extLst>
          </p:cNvPr>
          <p:cNvSpPr txBox="1"/>
          <p:nvPr/>
        </p:nvSpPr>
        <p:spPr>
          <a:xfrm>
            <a:off x="3215171" y="3449294"/>
            <a:ext cx="117394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age groups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50 US states</a:t>
            </a: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 products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">
            <a:extLst>
              <a:ext uri="{FF2B5EF4-FFF2-40B4-BE49-F238E27FC236}">
                <a16:creationId xmlns:a16="http://schemas.microsoft.com/office/drawing/2014/main" id="{3859AF21-4FBB-ADDD-E351-42F253DF7FFF}"/>
              </a:ext>
            </a:extLst>
          </p:cNvPr>
          <p:cNvSpPr/>
          <p:nvPr/>
        </p:nvSpPr>
        <p:spPr>
          <a:xfrm>
            <a:off x="4864606" y="1767255"/>
            <a:ext cx="4023360" cy="1740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73F42380-4FA6-6D80-0BBE-DFD29B60284C}"/>
              </a:ext>
            </a:extLst>
          </p:cNvPr>
          <p:cNvSpPr/>
          <p:nvPr/>
        </p:nvSpPr>
        <p:spPr>
          <a:xfrm>
            <a:off x="4864606" y="1767255"/>
            <a:ext cx="73152" cy="174088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6" y="1767255"/>
            <a:ext cx="4023360" cy="1740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6" y="1767255"/>
            <a:ext cx="73152" cy="174088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6" y="1817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6" y="2149499"/>
            <a:ext cx="3749040" cy="102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Subscription Status, Discount Applied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(S=0 to XL=3), Frequency of Purchases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Color, Season, Payment Method, Shipping Type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numerical and engineered features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6" y="3177538"/>
            <a:ext cx="3566160" cy="232117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6" y="3177538"/>
            <a:ext cx="3566160" cy="210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from </a:t>
            </a: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to 59 columns </a:t>
            </a: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4184" y="173383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Engineered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7" y="3920707"/>
            <a:ext cx="8631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encoding pipeline serves all downstream models model types: distance-based, tree-based, collaborative, and content-based</a:t>
            </a:r>
            <a:endParaRPr lang="en-US" sz="1200" b="1" dirty="0"/>
          </a:p>
        </p:txBody>
      </p:sp>
      <p:sp>
        <p:nvSpPr>
          <p:cNvPr id="22" name="Text 13"/>
          <p:cNvSpPr/>
          <p:nvPr/>
        </p:nvSpPr>
        <p:spPr>
          <a:xfrm>
            <a:off x="4984180" y="2020472"/>
            <a:ext cx="3931920" cy="1459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spending_tier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 Amount binned into terciles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amount didn't differentiate across segments (EDA-driven)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engagement_score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Purchases + subscription + discounts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CRM metric (domain-driven)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season_category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Season vs Category interaction (16 combination)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seasonal patterns worth capturing (EDA-driven)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customer_maturity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Previous Purchases  (new / regular / loyal)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proxy since no date column (domain-driven)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9DB8-1AB2-5BD0-CC5C-384D7F8B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E54460-5CC7-80EB-AAE5-CAA3BA979C5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11219A-402A-AF91-470B-849C8E0BFB81}"/>
              </a:ext>
            </a:extLst>
          </p:cNvPr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&amp; Feature Engineering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88F57C-5B4C-3729-0188-EC01150AB370}"/>
              </a:ext>
            </a:extLst>
          </p:cNvPr>
          <p:cNvSpPr/>
          <p:nvPr/>
        </p:nvSpPr>
        <p:spPr>
          <a:xfrm>
            <a:off x="672434" y="914400"/>
            <a:ext cx="7949649" cy="150894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1804F3-4DC9-5783-8D84-AA27F8785167}"/>
              </a:ext>
            </a:extLst>
          </p:cNvPr>
          <p:cNvSpPr/>
          <p:nvPr/>
        </p:nvSpPr>
        <p:spPr>
          <a:xfrm>
            <a:off x="672435" y="914400"/>
            <a:ext cx="73152" cy="1508947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75135C3-55BC-9CDE-BD7D-6D5BB62DE69D}"/>
              </a:ext>
            </a:extLst>
          </p:cNvPr>
          <p:cNvSpPr/>
          <p:nvPr/>
        </p:nvSpPr>
        <p:spPr>
          <a:xfrm>
            <a:off x="4093700" y="933734"/>
            <a:ext cx="16557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B5BD647-1C79-8DDC-2018-705A47596F4C}"/>
              </a:ext>
            </a:extLst>
          </p:cNvPr>
          <p:cNvSpPr/>
          <p:nvPr/>
        </p:nvSpPr>
        <p:spPr>
          <a:xfrm>
            <a:off x="886266" y="1265194"/>
            <a:ext cx="76281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method: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 and XGBoost embedded importance</a:t>
            </a:r>
            <a:endParaRPr lang="en-US" sz="1000" dirty="0"/>
          </a:p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 dropped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it is identical to Discount Applied (1.00 correlation) which is confirmed by zero feature importance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83EEF0-7232-6237-B824-DC1CB8D1A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178" y="2492860"/>
            <a:ext cx="3542052" cy="25529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679337-5B02-0D38-C1D2-6B31017C8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74" y="2529202"/>
            <a:ext cx="2868554" cy="255920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72B6C8F2-BEA7-FF5A-C9B7-4CDFEFBC7949}"/>
              </a:ext>
            </a:extLst>
          </p:cNvPr>
          <p:cNvSpPr/>
          <p:nvPr/>
        </p:nvSpPr>
        <p:spPr>
          <a:xfrm>
            <a:off x="521917" y="1860434"/>
            <a:ext cx="7489633" cy="711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6"/>
          <p:cNvSpPr/>
          <p:nvPr/>
        </p:nvSpPr>
        <p:spPr>
          <a:xfrm>
            <a:off x="865163" y="1888147"/>
            <a:ext cx="7628200" cy="295871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7"/>
          <p:cNvSpPr/>
          <p:nvPr/>
        </p:nvSpPr>
        <p:spPr>
          <a:xfrm>
            <a:off x="959418" y="1888146"/>
            <a:ext cx="7555046" cy="295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importance showed flat distribution (0.066–0.083) which is consistent with a synthetic 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3547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E128682-1084-176F-4D2C-381A89DFF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750" y="3164636"/>
            <a:ext cx="2622652" cy="18220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10F48D-CE03-AE66-5D64-8524F5EC8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75" y="3109204"/>
            <a:ext cx="3390409" cy="167007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Dimensionality Reduction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0880"/>
            <a:ext cx="3931920" cy="216583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0880"/>
            <a:ext cx="59788" cy="2165835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4148" y="889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3 Components Capture 71.3% Variance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4148" y="1199259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(32.1%):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Purchases (1.000)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differentiator: “how often users shop”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(23.5%):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 + engagement_score + customer_maturity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loyalty dimension where engineered features load together as expected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(15.7%):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+ spending_tier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pair loading together confirms feature design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5986" y="4828828"/>
            <a:ext cx="2419643" cy="26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 capture 71.3% of variance with diminishing returns beyond this point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0880"/>
            <a:ext cx="3931920" cy="216583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10880"/>
            <a:ext cx="59788" cy="2165835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86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t-SNE: No Natural Age-Based Clusters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167023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age groups overlap heavily in feature space; no distinct demographic clusters emerge</a:t>
            </a:r>
            <a:endParaRPr lang="en-US" sz="1050" dirty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Banded structure driven by discrete feature combinations (frequency levels, spending tiers, maturity segments) and not demographics</a:t>
            </a:r>
            <a:endParaRPr lang="en-US" sz="1050" dirty="0"/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EDA, spending and rating patterns were similar across age groups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2524557"/>
            <a:ext cx="3657600" cy="5029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524557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matters more than demographics for segmentation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89733" y="3823926"/>
            <a:ext cx="1429184" cy="58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colored by age group: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distinct clusters, behavior drives structure over demographics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640080" y="2475319"/>
            <a:ext cx="3657600" cy="5029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3"/>
          <p:cNvSpPr/>
          <p:nvPr/>
        </p:nvSpPr>
        <p:spPr>
          <a:xfrm>
            <a:off x="731520" y="2475319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validated where derived pairs load on the same components, confirming feature design rather than just reducing dimensions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 &amp;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1206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292608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Tested using NDCG@10 as the Success Metric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765974"/>
              </p:ext>
            </p:extLst>
          </p:nvPr>
        </p:nvGraphicFramePr>
        <p:xfrm>
          <a:off x="731520" y="1383910"/>
          <a:ext cx="4663440" cy="14630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7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1: Popularity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2: K-Means Cluster (k=3)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3: Collaborative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4: Content-Based (Adapted)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5: </a:t>
                      </a:r>
                      <a:r>
                        <a:rPr lang="en-US" sz="1000" b="1" dirty="0" err="1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Ranker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852160" y="1051560"/>
            <a:ext cx="29260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52160" y="1051560"/>
            <a:ext cx="73152" cy="292608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89320" y="109024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89320" y="1484140"/>
            <a:ext cx="2651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matched baseline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96% sparse matrix meant most user pairs share zero purchases, reducing cosine similarity to near-identical scores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required adaptation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 absent from training set, so we instead matched to similar demographic profiles to generate recommendations instead of relying on purchase history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leakage discovered and removed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collab_score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content_score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derived from training labels (importance = 1.0) so both were removed from training and test inference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performance gap (0.163–0.176)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with synthetic data where features are generated independently with limited natural separation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4251960"/>
            <a:ext cx="8321040" cy="457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Tollgate Decision: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Model (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Ranker, NDCG@10: 0.176) outperforms the popularity baseline (0.163) by 7.9%</a:t>
            </a:r>
            <a:endParaRPr lang="en-US" sz="105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90F4EAEB-CE54-AE38-E60B-33ABF6C76C22}"/>
              </a:ext>
            </a:extLst>
          </p:cNvPr>
          <p:cNvSpPr/>
          <p:nvPr/>
        </p:nvSpPr>
        <p:spPr>
          <a:xfrm>
            <a:off x="521208" y="2956560"/>
            <a:ext cx="5084064" cy="950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 was originally designed as a hybrid meta-learner, blending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collab_score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content_score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Models 3 and 4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both were removed due to data leakage, the model operates as a direct ranker using only user profile and item features.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renamed from "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Hybrid" to "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Ranker" to reflect what was delivered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723E9DF-AE65-5F0B-CFDB-5D470BB4F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446" y="2561274"/>
            <a:ext cx="2719852" cy="25822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DC516D-B9AF-765E-5F00-C19036F81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84" y="2566036"/>
            <a:ext cx="2787396" cy="250888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Explainability: SHAP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3840" y="899160"/>
            <a:ext cx="4145280" cy="16230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3360" y="899160"/>
            <a:ext cx="73152" cy="16230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9664" y="94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Importance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9664" y="1264920"/>
            <a:ext cx="3892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top two features (mean |SHAP| 0.48)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features are all user-level:</a:t>
            </a: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relies more on understanding who the customer is than what the product looks like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99160"/>
            <a:ext cx="4145280" cy="16230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99160"/>
            <a:ext cx="73152" cy="16230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94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264920"/>
            <a:ext cx="3846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wide, symmetric distributions </a:t>
            </a: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high and low values push predictions in either direction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in one direction </a:t>
            </a:r>
          </a:p>
          <a:p>
            <a:pPr marL="171450" indent="-17145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interaction-based predictions, not a simple "more X = more likely to buy" rules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43150" y="3649980"/>
            <a:ext cx="20459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feature importance: Champion model</a:t>
            </a:r>
            <a:endParaRPr lang="en-US" sz="1400" b="1" dirty="0"/>
          </a:p>
          <a:p>
            <a:pPr>
              <a:lnSpc>
                <a:spcPct val="115000"/>
              </a:lnSpc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Subscription Status, and Discount Applied do not appear in the top 15 which is consistent with near-zero PCA loadings</a:t>
            </a:r>
            <a:endParaRPr 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0AF48-28F6-A240-6314-80655C99A6FC}"/>
              </a:ext>
            </a:extLst>
          </p:cNvPr>
          <p:cNvSpPr txBox="1"/>
          <p:nvPr/>
        </p:nvSpPr>
        <p:spPr>
          <a:xfrm>
            <a:off x="7311298" y="3440857"/>
            <a:ext cx="1859234" cy="102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kumimoji="0" 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Champion model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 model uses Purchase Amount and Age to match users to items, not to uniformly boost or suppress predictions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E94CB36-4A60-18C1-FF6B-50A2AA67B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17351"/>
            <a:ext cx="3589934" cy="213220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Explainability: LIME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3152" cy="132588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Customer 1814 - Shorts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3520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0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P(purchase) = 2.1%  which predicted NOT purchase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multiple colors (Brown, Orange, Pink, Teal, Yellow) pushed strongly toward non-purchase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item's color profile does not match what similar users purchased in training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73152" cy="132588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Customer 3721 - 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P(purchase) = 66.2% which predicted purchase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Brown, Yellow, Orange pushed toward purchase which is an opposite direction from Example 1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explanations are local, so the same condition (e.g., "not Brown") means different things depending on user profile and item 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3210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73152" cy="68580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487" y="4389051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explanations are dominated by item-level features (color, category), while SHAP global analysis shows user features ranked highest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SHAP measures average impact across all predictions, LIME, on the other hand, zooms in on why a single result was chosen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Essentially, once a user's profile filters the options, specific item details are what trigger the final individual prediction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699324-3706-DC27-93E8-2FD4677F4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873" y="2217351"/>
            <a:ext cx="3589934" cy="21322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Explainability: PDP &amp; 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3152" cy="12801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Plots (PDP)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top features show an inverted-U pattern: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probability peaks in the mid-range, drops at both extremes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bias: if any demographic group concentrates at the extremes, they may receive lower-quality recommendations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224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73152" cy="12801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Conditional Expectation (ICE)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81016" y="1234440"/>
            <a:ext cx="36957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ICE lines cluster near zero (non-purchase) which is expected with 96% negative user-item pairs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subset spike sharply upward (0.6 to 1.0) for well-matched user-item pairs which drive the actual recommendations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3048" y="2948940"/>
            <a:ext cx="100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Inverted-U across all four features: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best for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users</a:t>
            </a:r>
            <a:endParaRPr lang="en-US" sz="1100" i="1" dirty="0"/>
          </a:p>
        </p:txBody>
      </p:sp>
      <p:sp>
        <p:nvSpPr>
          <p:cNvPr id="15" name="Text 13"/>
          <p:cNvSpPr/>
          <p:nvPr/>
        </p:nvSpPr>
        <p:spPr>
          <a:xfrm>
            <a:off x="7799770" y="2948940"/>
            <a:ext cx="112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PDP average masks this heterogeneity: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spikes for well-matched pairs hidden by PDP average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 blends confident matches with near-zero predictions</a:t>
            </a:r>
            <a:endParaRPr lang="en-US" sz="1100" i="1" dirty="0"/>
          </a:p>
        </p:txBody>
      </p:sp>
      <p:sp>
        <p:nvSpPr>
          <p:cNvPr id="16" name="Shape 14"/>
          <p:cNvSpPr/>
          <p:nvPr/>
        </p:nvSpPr>
        <p:spPr>
          <a:xfrm>
            <a:off x="455676" y="4488180"/>
            <a:ext cx="8321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5676" y="4488180"/>
            <a:ext cx="73152" cy="5943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9996" y="44881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giving weak predictions across the board, the model delivers confident scores for strong matches and near-zero results for everything else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expected behavior of a recommendation engine where it is decisive for good matches while cautious for poor ones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2E9C4C-5CD6-AB1D-F8E4-1B31B5F41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27" y="2221219"/>
            <a:ext cx="2979485" cy="21945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116E78-B0BF-CA0C-EA7A-01289C7A7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542" y="2194560"/>
            <a:ext cx="3047998" cy="22450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Audit &amp; Fairness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321040" cy="17739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1773936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4/5 rule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(Disparate Impact &gt;= 0.80)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Originates from US EEOC employment guidelines, adopted as baseline benchmark for this project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357733"/>
              </p:ext>
            </p:extLst>
          </p:nvPr>
        </p:nvGraphicFramePr>
        <p:xfrm>
          <a:off x="685800" y="1714500"/>
          <a:ext cx="72237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NDCG@10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NDCG@10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Difference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Male: 0.186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Female: 0.157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bias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36-50: 0.181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18-25: 0.171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High: 0.196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Low: 0.166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detected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956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2956560"/>
            <a:ext cx="91440" cy="16002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974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(68/32 split)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2491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users receive better recommendations due to having roughly twice the training examples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Gender's correlation with Subscription Status (0.42) and Discount Applied (0.60) amplifies disparity through indirect pathways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2956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91840" y="2956560"/>
            <a:ext cx="91440" cy="160020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20440" y="2974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20440" y="32080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age-based disadvantage as all groups are within 0.171 to 0.181 range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group (18-25: n=114) performs comparably to the largest (50+: n=296)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PCA: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loaded on PC4 (7.9% variance) was not a major model driver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2956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26480" y="2956560"/>
            <a:ext cx="91440" cy="160020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55080" y="2974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Tier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32491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disparity: high spenders (0.196) vs low spenders (0.166) has 18.1% gap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PDP: model performs best in mid-to-high Purchase Amount range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trade-off decision is to either: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high-value customers or serve all segments equally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3776" y="4636008"/>
            <a:ext cx="8284464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Race/Ethnicity is not available in dataset: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documented as a limitation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should collect and audit across racial groups with appropriate consent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210312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Disparity (DP: 0.056)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Female users from 1,248 to 2,600 to match Male representation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Reweighting: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higher sample_weight to Female users during XGBoost training (same effect without altering the dataset(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re-ranking: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Female recommendation scores upward by 13.6% calibration factor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auditing: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removing or decorrelating Subscription Status and Discount Applied to reduce indirect gender pathways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73152" cy="2103120"/>
          </a:xfrm>
          <a:prstGeom prst="rect">
            <a:avLst/>
          </a:prstGeom>
          <a:solidFill>
            <a:srgbClr val="D48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Tier Disparity (DP: 0.065)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adjustment: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confidence threshold for low-spend users to surface relevant items even under uncertainty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low-spend profiles with browsing history and wishlist data in production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policy decision: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prioritizing high-value customers is intentional, document as a deliberate choice with explicit fairness trade-off acceptance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321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73152" cy="1280160"/>
          </a:xfrm>
          <a:prstGeom prst="rect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&amp; Governance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fairness monitoring: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DP and DI ratios monthly with automated alerts if DP exceeds 0.05 or DI falls below 0.80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testing: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experiments before deploying mitigations to measure trade-off between fairness and NDCG@10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Race/ethnicity inclusion: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fairness audit pipeline when data collection policies allow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awareness: </a:t>
            </a: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cycles where underserved groups disengage, worsening disparity over 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mitigations are proposed (none alter the current model results). Implementation requires A/B testing and business alignment before deployment.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1934</Words>
  <Application>Microsoft Office PowerPoint</Application>
  <PresentationFormat>On-screen Show (16:9)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Recommendation Engine — Technical Presentation</dc:title>
  <dc:subject>PptxGenJS Presentation</dc:subject>
  <dc:creator>Arthur C. Flores Jr.</dc:creator>
  <cp:lastModifiedBy>Sarah May Flores</cp:lastModifiedBy>
  <cp:revision>9</cp:revision>
  <dcterms:created xsi:type="dcterms:W3CDTF">2026-03-28T15:59:30Z</dcterms:created>
  <dcterms:modified xsi:type="dcterms:W3CDTF">2026-03-29T10:58:05Z</dcterms:modified>
</cp:coreProperties>
</file>