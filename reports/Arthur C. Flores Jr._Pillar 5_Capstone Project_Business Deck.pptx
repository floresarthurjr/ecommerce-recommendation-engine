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290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4D329-4520-065D-1EDC-1CDAAC0B4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52D4E-08D7-BAFE-EEAF-E02CEF462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B55DA-2929-EE71-09F3-6A1DB5644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DE986-818B-2DEB-8AD0-6CFCCF91F5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50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34FB3-4A1E-0BB0-0F8D-3043C81D9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BED7C-3D46-4B89-CB0F-6D61CDAC4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9411B-7954-95BD-4EAE-7DC49CD8B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D5378-ED50-5E86-BD40-671CB61A32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30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9BCE-1FBA-9442-9599-907061EC7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1C6AD-D949-72B5-A838-54DFCD48F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D4C94-BBE7-4E81-3234-17FC3A54F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A708E-F49B-37D9-236B-BAD1CD7861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22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23FDC-984C-CA71-6807-F9A0554CE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7AA09-6C5B-75F1-28B2-BF572A032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4F967-3C5B-8716-D579-7FBFD74BF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F53E3-7530-DA08-AA03-9C0FE85FC9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33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A4BBA-AAAD-940A-C9D9-573EFFE4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FAB70-FC1C-2695-0D1F-5D781E9A2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BEE77-A62E-8ED6-CDD5-0678C6FE4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FF51D-C9CB-F5CD-C3A1-D48128BFA7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18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8F63-2D4A-E48E-EDA5-50C5979DA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4694C-ACAB-987B-D0C7-13F3AE3D2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05777-5042-C140-F43D-332341819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63655-9E2E-DE8F-69DA-0D5CFD5DC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52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AF0E7-93BC-C815-FDCB-5FEBAB21B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359E5-9BC3-A08E-42C2-F90ED18C1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CCA00-50DC-CF8A-75AE-B4BB33A9B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17D72-2352-BC0B-C033-5AC5910FC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42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4C6F-E31C-B57E-66E9-895769670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310E4-43D1-64F8-B1F2-6917ADE8B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0AA49-1FC2-AF80-AD4E-5D2E23909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73EB6-42DF-9B39-382B-8015D0C5A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28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63040"/>
            <a:ext cx="109728" cy="219456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Product Recommendations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Revenue Through Personalization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2286000" cy="13716"/>
          </a:xfrm>
          <a:prstGeom prst="rect">
            <a:avLst/>
          </a:prstGeom>
          <a:solidFill>
            <a:srgbClr val="2E8B8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47F4D9C-6051-56FE-AD6F-2B2A28782B49}"/>
              </a:ext>
            </a:extLst>
          </p:cNvPr>
          <p:cNvSpPr/>
          <p:nvPr/>
        </p:nvSpPr>
        <p:spPr>
          <a:xfrm>
            <a:off x="731520" y="32918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C. Flores Jr.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AIML Capstone Project  |  Pillar 5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Customer Shopping Trends (3,900 customers, 25 products)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95753" y="1458116"/>
            <a:ext cx="298235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82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Current: One-Size-Fits-All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016955"/>
            <a:ext cx="3383280" cy="22297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shown generically to all customers, regardless of their preferences, demographics, or purchase history</a:t>
            </a:r>
          </a:p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the platform misses cross-sell and upsell opportunities that are already hiding in the data we collect</a:t>
            </a:r>
          </a:p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every customer sees the same "most popular" list, the experience feels impersonal and engagement suffers</a:t>
            </a:r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577840" y="1463040"/>
            <a:ext cx="30245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Opportunity: Personalized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016955"/>
            <a:ext cx="3573194" cy="22297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Tailor recommendations to each customer using their behavior, preferences, and demographic profile</a:t>
            </a:r>
          </a:p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Drive </a:t>
            </a:r>
            <a:r>
              <a:rPr lang="en-US" sz="1200" b="1" dirty="0"/>
              <a:t>higher Average Order Value (AOV) </a:t>
            </a:r>
            <a:r>
              <a:rPr lang="en-US" sz="1200" dirty="0"/>
              <a:t>by surfacing products customers actually want, not just what everyone else buys</a:t>
            </a:r>
          </a:p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Improve Click-Through Rate (CTR) </a:t>
            </a:r>
            <a:r>
              <a:rPr lang="en-US" sz="1200" dirty="0"/>
              <a:t>by placing relevant items where customers are most likely to engage, increasing retention</a:t>
            </a:r>
          </a:p>
        </p:txBody>
      </p:sp>
      <p:pic>
        <p:nvPicPr>
          <p:cNvPr id="1026" name="Picture 2" descr="Today - Free interface icons">
            <a:extLst>
              <a:ext uri="{FF2B5EF4-FFF2-40B4-BE49-F238E27FC236}">
                <a16:creationId xmlns:a16="http://schemas.microsoft.com/office/drawing/2014/main" id="{CAE2CCF4-099A-AB99-2E7C-84C00BC63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52" y="1386019"/>
            <a:ext cx="488501" cy="48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wnload Free Opportunity Icons in PNG &amp; SVG">
            <a:extLst>
              <a:ext uri="{FF2B5EF4-FFF2-40B4-BE49-F238E27FC236}">
                <a16:creationId xmlns:a16="http://schemas.microsoft.com/office/drawing/2014/main" id="{592D5DF8-DD4C-E4D0-B2EA-7486ACF76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403252"/>
            <a:ext cx="491227" cy="49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9332-4887-E078-E768-010C1F614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264494-2E4A-43E8-D0B9-3E902640401C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CDA95E-0343-A7C4-F4C1-2D6375D17950}"/>
              </a:ext>
            </a:extLst>
          </p:cNvPr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</a:p>
        </p:txBody>
      </p:sp>
      <p:sp>
        <p:nvSpPr>
          <p:cNvPr id="6" name="Shape 1"/>
          <p:cNvSpPr/>
          <p:nvPr/>
        </p:nvSpPr>
        <p:spPr>
          <a:xfrm>
            <a:off x="457200" y="107618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2"/>
          <p:cNvSpPr/>
          <p:nvPr/>
        </p:nvSpPr>
        <p:spPr>
          <a:xfrm>
            <a:off x="457200" y="1076180"/>
            <a:ext cx="64008" cy="105156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3"/>
          <p:cNvSpPr/>
          <p:nvPr/>
        </p:nvSpPr>
        <p:spPr>
          <a:xfrm>
            <a:off x="777240" y="107618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recommendation engine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learns from each customer's profile and purchase behavior: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and rank the products they are most likely to buy next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showing the same popular items to everyone: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scores every product for every customer and surfaces the most relevant ones first</a:t>
            </a:r>
            <a:endParaRPr lang="en-US" sz="1200" dirty="0"/>
          </a:p>
        </p:txBody>
      </p:sp>
      <p:sp>
        <p:nvSpPr>
          <p:cNvPr id="15" name="Shape 4"/>
          <p:cNvSpPr/>
          <p:nvPr/>
        </p:nvSpPr>
        <p:spPr>
          <a:xfrm>
            <a:off x="457200" y="2423162"/>
            <a:ext cx="2560320" cy="221917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5"/>
          <p:cNvSpPr/>
          <p:nvPr/>
        </p:nvSpPr>
        <p:spPr>
          <a:xfrm>
            <a:off x="457200" y="2423162"/>
            <a:ext cx="2560320" cy="54864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6"/>
          <p:cNvSpPr/>
          <p:nvPr/>
        </p:nvSpPr>
        <p:spPr>
          <a:xfrm>
            <a:off x="640080" y="2482599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Approaches Tested</a:t>
            </a:r>
            <a:endParaRPr lang="en-US" sz="1400" dirty="0"/>
          </a:p>
        </p:txBody>
      </p:sp>
      <p:sp>
        <p:nvSpPr>
          <p:cNvPr id="18" name="Text 7"/>
          <p:cNvSpPr/>
          <p:nvPr/>
        </p:nvSpPr>
        <p:spPr>
          <a:xfrm>
            <a:off x="640080" y="2834641"/>
            <a:ext cx="2194560" cy="1691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Baseline 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(current state)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Ranker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had to beat the baseline to justify its complexity for further usage or improvement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Shape 8"/>
          <p:cNvSpPr/>
          <p:nvPr/>
        </p:nvSpPr>
        <p:spPr>
          <a:xfrm>
            <a:off x="3291840" y="2423162"/>
            <a:ext cx="2560320" cy="221917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9"/>
          <p:cNvSpPr/>
          <p:nvPr/>
        </p:nvSpPr>
        <p:spPr>
          <a:xfrm>
            <a:off x="3291840" y="2423162"/>
            <a:ext cx="2560320" cy="54864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0"/>
          <p:cNvSpPr/>
          <p:nvPr/>
        </p:nvSpPr>
        <p:spPr>
          <a:xfrm>
            <a:off x="34747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Selected </a:t>
            </a:r>
            <a:endParaRPr lang="en-US" sz="1400" dirty="0"/>
          </a:p>
        </p:txBody>
      </p:sp>
      <p:sp>
        <p:nvSpPr>
          <p:cNvPr id="22" name="Text 11"/>
          <p:cNvSpPr/>
          <p:nvPr/>
        </p:nvSpPr>
        <p:spPr>
          <a:xfrm>
            <a:off x="3474720" y="2834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Ranker was chosen as the champion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scores every product for every customer using their demographic profile and item attributes, then ranks by purchase likelihood.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6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a 7.9% improvement over the baseline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3" name="Shape 12"/>
          <p:cNvSpPr/>
          <p:nvPr/>
        </p:nvSpPr>
        <p:spPr>
          <a:xfrm>
            <a:off x="6126480" y="2423162"/>
            <a:ext cx="2560320" cy="221917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3"/>
          <p:cNvSpPr/>
          <p:nvPr/>
        </p:nvSpPr>
        <p:spPr>
          <a:xfrm>
            <a:off x="6126480" y="2423162"/>
            <a:ext cx="2560320" cy="54864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4"/>
          <p:cNvSpPr/>
          <p:nvPr/>
        </p:nvSpPr>
        <p:spPr>
          <a:xfrm>
            <a:off x="6309360" y="242316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Audited</a:t>
            </a:r>
            <a:endParaRPr lang="en-US" sz="1400" dirty="0"/>
          </a:p>
        </p:txBody>
      </p:sp>
      <p:sp>
        <p:nvSpPr>
          <p:cNvPr id="26" name="Text 15"/>
          <p:cNvSpPr/>
          <p:nvPr/>
        </p:nvSpPr>
        <p:spPr>
          <a:xfrm>
            <a:off x="6309360" y="2752346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recommending deployment, we audited the model across gender, age, and spending levels to check whether all customer segments receive equally good recommendations. 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were found and mitigations proposed.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90571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E6869-5635-3640-1039-08EEBAB40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C0FEE9-3CAB-017C-1B9C-3A4EB1BC5948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7313CD-E6BB-337B-BF90-E16ECBBEDE9E}"/>
              </a:ext>
            </a:extLst>
          </p:cNvPr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Does It Work?</a:t>
            </a:r>
          </a:p>
        </p:txBody>
      </p:sp>
      <p:sp>
        <p:nvSpPr>
          <p:cNvPr id="27" name="Shape 9"/>
          <p:cNvSpPr/>
          <p:nvPr/>
        </p:nvSpPr>
        <p:spPr>
          <a:xfrm>
            <a:off x="393896" y="1033975"/>
            <a:ext cx="82296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10"/>
          <p:cNvSpPr/>
          <p:nvPr/>
        </p:nvSpPr>
        <p:spPr>
          <a:xfrm>
            <a:off x="393896" y="1033975"/>
            <a:ext cx="64008" cy="14173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1"/>
          <p:cNvSpPr/>
          <p:nvPr/>
        </p:nvSpPr>
        <p:spPr>
          <a:xfrm>
            <a:off x="713936" y="107969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these numbers mean?</a:t>
            </a:r>
            <a:endParaRPr lang="en-US" sz="1300" dirty="0"/>
          </a:p>
        </p:txBody>
      </p:sp>
      <p:sp>
        <p:nvSpPr>
          <p:cNvPr id="30" name="Text 12"/>
          <p:cNvSpPr/>
          <p:nvPr/>
        </p:nvSpPr>
        <p:spPr>
          <a:xfrm>
            <a:off x="713936" y="1418023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 of 0.390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39% of customers find their actual preferred product within the top 10 suggestions</a:t>
            </a:r>
          </a:p>
          <a:p>
            <a:pPr marL="628650" lvl="1" indent="-1714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model's ability to surface the right item (not just any item)</a:t>
            </a:r>
          </a:p>
          <a:p>
            <a:pPr>
              <a:lnSpc>
                <a:spcPct val="115000"/>
              </a:lnSpc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(our primary metric) measures whether the right products appear near the top of each customer's personalized list</a:t>
            </a:r>
          </a:p>
          <a:p>
            <a:pPr marL="628650" lvl="1" indent="-1714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extends Precision and Recall to ranked lists, awarding more credit when a relevant product is placed higher </a:t>
            </a:r>
          </a:p>
          <a:p>
            <a:pPr marL="628650" lvl="1" indent="-1714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7.9% lift means customers are more likely to see relevant products in the positions where they actually look</a:t>
            </a:r>
            <a:endParaRPr lang="en-US" sz="1100" dirty="0"/>
          </a:p>
          <a:p>
            <a:pPr>
              <a:lnSpc>
                <a:spcPct val="115000"/>
              </a:lnSpc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5" name="Shape 5"/>
          <p:cNvSpPr/>
          <p:nvPr/>
        </p:nvSpPr>
        <p:spPr>
          <a:xfrm>
            <a:off x="457904" y="2849997"/>
            <a:ext cx="3931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6"/>
          <p:cNvSpPr/>
          <p:nvPr/>
        </p:nvSpPr>
        <p:spPr>
          <a:xfrm>
            <a:off x="457904" y="2849997"/>
            <a:ext cx="3931920" cy="54864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7"/>
          <p:cNvSpPr/>
          <p:nvPr/>
        </p:nvSpPr>
        <p:spPr>
          <a:xfrm>
            <a:off x="457904" y="2895013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482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39%</a:t>
            </a:r>
            <a:endParaRPr lang="en-US" sz="5200" dirty="0"/>
          </a:p>
        </p:txBody>
      </p:sp>
      <p:sp>
        <p:nvSpPr>
          <p:cNvPr id="38" name="Text 8"/>
          <p:cNvSpPr/>
          <p:nvPr/>
        </p:nvSpPr>
        <p:spPr>
          <a:xfrm>
            <a:off x="732224" y="3992997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see their preferred product in the top 10 recommendations</a:t>
            </a:r>
            <a:endParaRPr lang="en-US" sz="12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3505D79F-85D9-A47D-62D4-7F5619DCEC1D}"/>
              </a:ext>
            </a:extLst>
          </p:cNvPr>
          <p:cNvSpPr/>
          <p:nvPr/>
        </p:nvSpPr>
        <p:spPr>
          <a:xfrm>
            <a:off x="457904" y="3729110"/>
            <a:ext cx="3931920" cy="2128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000" dirty="0">
                <a:solidFill>
                  <a:srgbClr val="D4820C"/>
                </a:solidFill>
                <a:latin typeface="Georgia" pitchFamily="34" charset="0"/>
              </a:rPr>
              <a:t>(Recall@10)</a:t>
            </a:r>
          </a:p>
        </p:txBody>
      </p:sp>
      <p:sp>
        <p:nvSpPr>
          <p:cNvPr id="41" name="Shape 1"/>
          <p:cNvSpPr/>
          <p:nvPr/>
        </p:nvSpPr>
        <p:spPr>
          <a:xfrm>
            <a:off x="4691576" y="2852810"/>
            <a:ext cx="3931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2"/>
          <p:cNvSpPr/>
          <p:nvPr/>
        </p:nvSpPr>
        <p:spPr>
          <a:xfrm>
            <a:off x="4691576" y="2852810"/>
            <a:ext cx="3931920" cy="54864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"/>
          <p:cNvSpPr/>
          <p:nvPr/>
        </p:nvSpPr>
        <p:spPr>
          <a:xfrm>
            <a:off x="4691576" y="288446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7.9%</a:t>
            </a:r>
            <a:endParaRPr lang="en-US" sz="5200" dirty="0"/>
          </a:p>
        </p:txBody>
      </p:sp>
      <p:sp>
        <p:nvSpPr>
          <p:cNvPr id="44" name="Text 4"/>
          <p:cNvSpPr/>
          <p:nvPr/>
        </p:nvSpPr>
        <p:spPr>
          <a:xfrm>
            <a:off x="4965896" y="4032151"/>
            <a:ext cx="3383280" cy="45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recommendation quality over the baseline</a:t>
            </a:r>
            <a:endParaRPr lang="en-US" sz="1200" dirty="0"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372F749E-EB9F-833C-9507-32EBDB7CA31D}"/>
              </a:ext>
            </a:extLst>
          </p:cNvPr>
          <p:cNvSpPr/>
          <p:nvPr/>
        </p:nvSpPr>
        <p:spPr>
          <a:xfrm>
            <a:off x="4691576" y="3731923"/>
            <a:ext cx="3931920" cy="2128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(NDCG@10)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50740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5A601-33B6-B427-CC61-BF4C585BC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295D85-415C-734C-CB1E-4D2E51E30936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DCE4A7-B44B-D611-C319-36C3642502B8}"/>
              </a:ext>
            </a:extLst>
          </p:cNvPr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Business Impact</a:t>
            </a:r>
          </a:p>
        </p:txBody>
      </p:sp>
      <p:sp>
        <p:nvSpPr>
          <p:cNvPr id="4" name="Shape 1"/>
          <p:cNvSpPr/>
          <p:nvPr/>
        </p:nvSpPr>
        <p:spPr>
          <a:xfrm>
            <a:off x="457200" y="903848"/>
            <a:ext cx="3931920" cy="252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21209" y="1041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</a:t>
            </a: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(CTR Proxy)</a:t>
            </a:r>
          </a:p>
        </p:txBody>
      </p:sp>
      <p:sp>
        <p:nvSpPr>
          <p:cNvPr id="7" name="Text 4"/>
          <p:cNvSpPr/>
          <p:nvPr/>
        </p:nvSpPr>
        <p:spPr>
          <a:xfrm>
            <a:off x="520857" y="1403603"/>
            <a:ext cx="38046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measured it: 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1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how often a customer's actual purchase appears in their top 10 recommendation list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extends Precision and Recall concepts to ranked lists and serves as our proxy for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"would the customer have clicked“</a:t>
            </a:r>
          </a:p>
          <a:p>
            <a:pPr>
              <a:lnSpc>
                <a:spcPct val="120000"/>
              </a:lnSpc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of customers (Recall@10 = 0.390) see their preferred product in the top 10</a:t>
            </a:r>
          </a:p>
        </p:txBody>
      </p:sp>
      <p:sp>
        <p:nvSpPr>
          <p:cNvPr id="8" name="Shape 5"/>
          <p:cNvSpPr/>
          <p:nvPr/>
        </p:nvSpPr>
        <p:spPr>
          <a:xfrm>
            <a:off x="4754880" y="903848"/>
            <a:ext cx="3931920" cy="252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25217" y="103397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r>
              <a:rPr lang="en-US" sz="14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(AOV Proxy)</a:t>
            </a:r>
          </a:p>
        </p:txBody>
      </p:sp>
      <p:sp>
        <p:nvSpPr>
          <p:cNvPr id="11" name="Text 8"/>
          <p:cNvSpPr/>
          <p:nvPr/>
        </p:nvSpPr>
        <p:spPr>
          <a:xfrm>
            <a:off x="4822053" y="1354014"/>
            <a:ext cx="379757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measured it: 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average value of recommended products against the popularity baseline shows whether the model surfaces higher-value items per customer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context: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amounts range from $55 to $64 across all categories and demographics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7.9% improvement in recommendation relevance can shift customers toward products they genuinely value, increasing basket size even within this narrow range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631573"/>
            <a:ext cx="8229600" cy="134135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3631574"/>
            <a:ext cx="64009" cy="1341354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4911" y="366357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Projection at Scale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4911" y="3922773"/>
            <a:ext cx="8014715" cy="105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platform serves 100,000 active customers with an average order value of $60 (observed dataset median), even a conservative AOV 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of $1.50 per transaction (2.5% of $60) translates to approximately </a:t>
            </a:r>
            <a:r>
              <a:rPr lang="en-US" sz="105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 in incremental annual revenue</a:t>
            </a:r>
          </a:p>
          <a:p>
            <a:pPr marL="171450" indent="-17145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a higher CTR reducing wasted impressions, the system delivers value on both revenue and efficiency.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projections are currently illustrative but </a:t>
            </a:r>
            <a:r>
              <a:rPr lang="en-US" sz="9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a quantitative analysis of current transaction patterns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impact requires A/B testing against the current system with real transaction data</a:t>
            </a:r>
            <a:endParaRPr lang="en-US" sz="900" dirty="0"/>
          </a:p>
        </p:txBody>
      </p:sp>
      <p:sp>
        <p:nvSpPr>
          <p:cNvPr id="16" name="Shape 6"/>
          <p:cNvSpPr/>
          <p:nvPr/>
        </p:nvSpPr>
        <p:spPr>
          <a:xfrm>
            <a:off x="457200" y="896580"/>
            <a:ext cx="3931920" cy="54864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2"/>
          <p:cNvSpPr/>
          <p:nvPr/>
        </p:nvSpPr>
        <p:spPr>
          <a:xfrm>
            <a:off x="4754880" y="904552"/>
            <a:ext cx="3931920" cy="54864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54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0C93E-87C8-E9A5-7D07-A71D0E87F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D8BF13-0B56-9DC1-24C8-9917164EE29A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C49C1F-5BA4-1FAD-8680-F7C9D1AE2DDA}"/>
              </a:ext>
            </a:extLst>
          </p:cNvPr>
          <p:cNvSpPr/>
          <p:nvPr/>
        </p:nvSpPr>
        <p:spPr>
          <a:xfrm>
            <a:off x="731519" y="91440"/>
            <a:ext cx="81029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Fairness: Treating All Customers Equally?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26CE88C-8DEC-A054-8949-5283DDBDD781}"/>
              </a:ext>
            </a:extLst>
          </p:cNvPr>
          <p:cNvSpPr/>
          <p:nvPr/>
        </p:nvSpPr>
        <p:spPr>
          <a:xfrm>
            <a:off x="0" y="8961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audited the model across three customer dimensions before recommending deployment</a:t>
            </a:r>
            <a:endParaRPr lang="en-US" sz="1400" b="1" dirty="0"/>
          </a:p>
        </p:txBody>
      </p:sp>
      <p:sp>
        <p:nvSpPr>
          <p:cNvPr id="9" name="Shape 2"/>
          <p:cNvSpPr/>
          <p:nvPr/>
        </p:nvSpPr>
        <p:spPr>
          <a:xfrm>
            <a:off x="457200" y="1299856"/>
            <a:ext cx="2606040" cy="360273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3"/>
          <p:cNvSpPr/>
          <p:nvPr/>
        </p:nvSpPr>
        <p:spPr>
          <a:xfrm>
            <a:off x="457200" y="1299857"/>
            <a:ext cx="2606040" cy="54864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4"/>
          <p:cNvSpPr/>
          <p:nvPr/>
        </p:nvSpPr>
        <p:spPr>
          <a:xfrm>
            <a:off x="640080" y="1482737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500" dirty="0"/>
          </a:p>
        </p:txBody>
      </p:sp>
      <p:sp>
        <p:nvSpPr>
          <p:cNvPr id="20" name="Shape 5"/>
          <p:cNvSpPr/>
          <p:nvPr/>
        </p:nvSpPr>
        <p:spPr>
          <a:xfrm>
            <a:off x="640080" y="1848497"/>
            <a:ext cx="1463040" cy="274320"/>
          </a:xfrm>
          <a:prstGeom prst="rect">
            <a:avLst/>
          </a:prstGeom>
          <a:solidFill>
            <a:srgbClr val="D4820C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6"/>
          <p:cNvSpPr/>
          <p:nvPr/>
        </p:nvSpPr>
        <p:spPr>
          <a:xfrm>
            <a:off x="640080" y="1848497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Marginal Bias</a:t>
            </a:r>
            <a:endParaRPr lang="en-US" sz="1000" dirty="0"/>
          </a:p>
        </p:txBody>
      </p:sp>
      <p:sp>
        <p:nvSpPr>
          <p:cNvPr id="22" name="Text 7"/>
          <p:cNvSpPr/>
          <p:nvPr/>
        </p:nvSpPr>
        <p:spPr>
          <a:xfrm>
            <a:off x="640080" y="2259977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receive 15.5% better recommendations than Female customers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data is 68% Male / 32% Female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the model roughly twice as many Male examples to learn from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Impact: 0.864</a:t>
            </a:r>
            <a:endParaRPr lang="en-US" sz="1050" dirty="0"/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0.80 threshold (4/5 rule) but the gap is considered notable and warrants mitigation</a:t>
            </a:r>
            <a:endParaRPr lang="en-US" sz="1050" dirty="0"/>
          </a:p>
        </p:txBody>
      </p:sp>
      <p:sp>
        <p:nvSpPr>
          <p:cNvPr id="23" name="Shape 8"/>
          <p:cNvSpPr/>
          <p:nvPr/>
        </p:nvSpPr>
        <p:spPr>
          <a:xfrm>
            <a:off x="3291840" y="1299856"/>
            <a:ext cx="2606040" cy="360273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9"/>
          <p:cNvSpPr/>
          <p:nvPr/>
        </p:nvSpPr>
        <p:spPr>
          <a:xfrm>
            <a:off x="3291840" y="1299857"/>
            <a:ext cx="2606040" cy="54864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0"/>
          <p:cNvSpPr/>
          <p:nvPr/>
        </p:nvSpPr>
        <p:spPr>
          <a:xfrm>
            <a:off x="3474720" y="1482737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500" dirty="0"/>
          </a:p>
        </p:txBody>
      </p:sp>
      <p:sp>
        <p:nvSpPr>
          <p:cNvPr id="26" name="Shape 11"/>
          <p:cNvSpPr/>
          <p:nvPr/>
        </p:nvSpPr>
        <p:spPr>
          <a:xfrm>
            <a:off x="3474720" y="1848497"/>
            <a:ext cx="1463040" cy="274320"/>
          </a:xfrm>
          <a:prstGeom prst="rect">
            <a:avLst/>
          </a:prstGeom>
          <a:solidFill>
            <a:srgbClr val="2E8B8B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2"/>
          <p:cNvSpPr/>
          <p:nvPr/>
        </p:nvSpPr>
        <p:spPr>
          <a:xfrm>
            <a:off x="3474720" y="1848497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Bias Detected</a:t>
            </a:r>
            <a:endParaRPr lang="en-US" sz="1000" dirty="0"/>
          </a:p>
        </p:txBody>
      </p:sp>
      <p:sp>
        <p:nvSpPr>
          <p:cNvPr id="28" name="Text 13"/>
          <p:cNvSpPr/>
          <p:nvPr/>
        </p:nvSpPr>
        <p:spPr>
          <a:xfrm>
            <a:off x="3474720" y="2259977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quality is consistent across all four age groups (18-25, 26-35, 36-50, 50+)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range: 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of 0.171 to 0.181, with hit rates between 38.5% and 40.4%</a:t>
            </a:r>
          </a:p>
          <a:p>
            <a:pPr>
              <a:lnSpc>
                <a:spcPct val="120000"/>
              </a:lnSpc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Impact: 0.955</a:t>
            </a:r>
            <a:endParaRPr lang="en-US" sz="1050" dirty="0"/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close to the ideal of 1.0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 segment is underserved</a:t>
            </a:r>
            <a:endParaRPr lang="en-US" sz="1050" dirty="0"/>
          </a:p>
        </p:txBody>
      </p:sp>
      <p:sp>
        <p:nvSpPr>
          <p:cNvPr id="29" name="Shape 14"/>
          <p:cNvSpPr/>
          <p:nvPr/>
        </p:nvSpPr>
        <p:spPr>
          <a:xfrm>
            <a:off x="6126480" y="1299857"/>
            <a:ext cx="2606040" cy="360273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15"/>
          <p:cNvSpPr/>
          <p:nvPr/>
        </p:nvSpPr>
        <p:spPr>
          <a:xfrm>
            <a:off x="6126480" y="1299857"/>
            <a:ext cx="260604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6"/>
          <p:cNvSpPr/>
          <p:nvPr/>
        </p:nvSpPr>
        <p:spPr>
          <a:xfrm>
            <a:off x="6309360" y="1482737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Level</a:t>
            </a:r>
            <a:endParaRPr lang="en-US" sz="1500" dirty="0"/>
          </a:p>
        </p:txBody>
      </p:sp>
      <p:sp>
        <p:nvSpPr>
          <p:cNvPr id="32" name="Shape 17"/>
          <p:cNvSpPr/>
          <p:nvPr/>
        </p:nvSpPr>
        <p:spPr>
          <a:xfrm>
            <a:off x="6309360" y="1848497"/>
            <a:ext cx="1463040" cy="274320"/>
          </a:xfrm>
          <a:prstGeom prst="rect">
            <a:avLst/>
          </a:prstGeom>
          <a:solidFill>
            <a:srgbClr val="C0392B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18"/>
          <p:cNvSpPr/>
          <p:nvPr/>
        </p:nvSpPr>
        <p:spPr>
          <a:xfrm>
            <a:off x="6309360" y="1848497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Detected</a:t>
            </a:r>
            <a:endParaRPr lang="en-US" sz="1000" dirty="0"/>
          </a:p>
        </p:txBody>
      </p:sp>
      <p:sp>
        <p:nvSpPr>
          <p:cNvPr id="34" name="Text 19"/>
          <p:cNvSpPr/>
          <p:nvPr/>
        </p:nvSpPr>
        <p:spPr>
          <a:xfrm>
            <a:off x="6309360" y="2259976"/>
            <a:ext cx="2240280" cy="2466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spenders receive 18.1% better recommendations than low spenders. This is the largest disparity found.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business question: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system optimize for high-value customers (business-driven)?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it serve all segments equally (fairness-driven)?</a:t>
            </a:r>
          </a:p>
          <a:p>
            <a:pPr>
              <a:lnSpc>
                <a:spcPct val="120000"/>
              </a:lnSpc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Impact: 0.846</a:t>
            </a:r>
            <a:endParaRPr lang="en-US" sz="1050" dirty="0"/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0.80 threshold but the weakest score across all groups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86999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A8C5-11E5-B055-0BAE-344A4FAF8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4306A8-8594-386D-3469-DE408C64D478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254941-678E-888B-C062-5F6BCBE5753E}"/>
              </a:ext>
            </a:extLst>
          </p:cNvPr>
          <p:cNvSpPr/>
          <p:nvPr/>
        </p:nvSpPr>
        <p:spPr>
          <a:xfrm>
            <a:off x="731519" y="91440"/>
            <a:ext cx="81029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Limitations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E8B48B7-BA70-EC03-BCB9-8FCAE65A1E39}"/>
              </a:ext>
            </a:extLst>
          </p:cNvPr>
          <p:cNvSpPr/>
          <p:nvPr/>
        </p:nvSpPr>
        <p:spPr>
          <a:xfrm>
            <a:off x="0" y="8961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 of the current model but each has a clear path to resolution with production data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64008" cy="1600200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1" y="125044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Single-Transaction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1" y="1586484"/>
            <a:ext cx="3692768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has exactly one purchase, creating a 96% sparse interaction matrix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limited collaborative filtering (which matched baseline) and constrained all models from learning deeper preference patterns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with multi-transaction histories would see significantly higher lift (</a:t>
            </a:r>
            <a:r>
              <a:rPr lang="en-US" sz="105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improving the financial impact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754880" y="123444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754880" y="1234440"/>
            <a:ext cx="64008" cy="1600200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983480" y="125044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Characteristics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83480" y="1566964"/>
            <a:ext cx="3520440" cy="117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is flat across all analysis, distributions are uniform, and correlations are weak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are consistent with independently generated features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eCommerce data would show stronger signal, sharper customer segments, and higher model performance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3108960"/>
            <a:ext cx="64008" cy="16002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40081" y="31719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Validation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" y="3494766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no date column, so the gold standard temporal train/test split was not possible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a demographic-stratified random split instead, which is documented as a limitation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will use time-based evaluation</a:t>
            </a:r>
            <a:endParaRPr lang="en-US" sz="1050" dirty="0"/>
          </a:p>
        </p:txBody>
      </p:sp>
      <p:sp>
        <p:nvSpPr>
          <p:cNvPr id="35" name="Shape 14"/>
          <p:cNvSpPr/>
          <p:nvPr/>
        </p:nvSpPr>
        <p:spPr>
          <a:xfrm>
            <a:off x="4754880" y="310896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15"/>
          <p:cNvSpPr/>
          <p:nvPr/>
        </p:nvSpPr>
        <p:spPr>
          <a:xfrm>
            <a:off x="4754880" y="3108960"/>
            <a:ext cx="64008" cy="16002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16"/>
          <p:cNvSpPr/>
          <p:nvPr/>
        </p:nvSpPr>
        <p:spPr>
          <a:xfrm>
            <a:off x="4983480" y="317472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Fairness Coverage</a:t>
            </a:r>
            <a:endParaRPr lang="en-US" sz="1300" dirty="0"/>
          </a:p>
        </p:txBody>
      </p:sp>
      <p:sp>
        <p:nvSpPr>
          <p:cNvPr id="38" name="Text 17"/>
          <p:cNvSpPr/>
          <p:nvPr/>
        </p:nvSpPr>
        <p:spPr>
          <a:xfrm>
            <a:off x="4983480" y="356616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and ethnicity data is not available in this dataset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system should collect this data (with appropriate consent and privacy safeguards) to enable comprehensive fairness auditing across all protected groups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42299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13673-4723-FF88-3F72-69BFD6EF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6414A9-72D6-7057-A509-778D4F5D347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8D8DF7-A950-606F-7053-5388D9EE81F1}"/>
              </a:ext>
            </a:extLst>
          </p:cNvPr>
          <p:cNvSpPr/>
          <p:nvPr/>
        </p:nvSpPr>
        <p:spPr>
          <a:xfrm>
            <a:off x="731519" y="91440"/>
            <a:ext cx="81029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8737129-AB78-564C-C913-1EA23951D617}"/>
              </a:ext>
            </a:extLst>
          </p:cNvPr>
          <p:cNvCxnSpPr/>
          <p:nvPr/>
        </p:nvCxnSpPr>
        <p:spPr>
          <a:xfrm>
            <a:off x="492369" y="1266092"/>
            <a:ext cx="8215533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815EA14B-B45A-6D8B-50C2-5E9C06BC9FA2}"/>
              </a:ext>
            </a:extLst>
          </p:cNvPr>
          <p:cNvSpPr/>
          <p:nvPr/>
        </p:nvSpPr>
        <p:spPr>
          <a:xfrm>
            <a:off x="1104314" y="1083212"/>
            <a:ext cx="400929" cy="393896"/>
          </a:xfrm>
          <a:prstGeom prst="ellipse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577BF94-E211-B6EE-20AE-336744F75E17}"/>
              </a:ext>
            </a:extLst>
          </p:cNvPr>
          <p:cNvSpPr/>
          <p:nvPr/>
        </p:nvSpPr>
        <p:spPr>
          <a:xfrm>
            <a:off x="4371535" y="1083212"/>
            <a:ext cx="400929" cy="39389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4D4FD12-00D6-01CD-725C-E24A7C1568A6}"/>
              </a:ext>
            </a:extLst>
          </p:cNvPr>
          <p:cNvSpPr/>
          <p:nvPr/>
        </p:nvSpPr>
        <p:spPr>
          <a:xfrm>
            <a:off x="7365386" y="1069144"/>
            <a:ext cx="400929" cy="393896"/>
          </a:xfrm>
          <a:prstGeom prst="ellipse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Shape 2"/>
          <p:cNvSpPr/>
          <p:nvPr/>
        </p:nvSpPr>
        <p:spPr>
          <a:xfrm>
            <a:off x="370116" y="1827396"/>
            <a:ext cx="2606040" cy="239994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3"/>
          <p:cNvSpPr/>
          <p:nvPr/>
        </p:nvSpPr>
        <p:spPr>
          <a:xfrm>
            <a:off x="370116" y="1827397"/>
            <a:ext cx="2606040" cy="54864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4"/>
          <p:cNvSpPr/>
          <p:nvPr/>
        </p:nvSpPr>
        <p:spPr>
          <a:xfrm>
            <a:off x="552996" y="2010277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</a:t>
            </a:r>
          </a:p>
        </p:txBody>
      </p:sp>
      <p:sp>
        <p:nvSpPr>
          <p:cNvPr id="33" name="Text 7"/>
          <p:cNvSpPr/>
          <p:nvPr/>
        </p:nvSpPr>
        <p:spPr>
          <a:xfrm>
            <a:off x="552996" y="2317657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baseline recommendations using the popularity model as the initial production system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A/B testing framework to measure real user engagement against the current generic approach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collecting multi-transaction data to address the single-purchase limitation</a:t>
            </a:r>
          </a:p>
        </p:txBody>
      </p:sp>
      <p:sp>
        <p:nvSpPr>
          <p:cNvPr id="34" name="Shape 8"/>
          <p:cNvSpPr/>
          <p:nvPr/>
        </p:nvSpPr>
        <p:spPr>
          <a:xfrm>
            <a:off x="3291840" y="1827396"/>
            <a:ext cx="2606040" cy="257298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9"/>
          <p:cNvSpPr/>
          <p:nvPr/>
        </p:nvSpPr>
        <p:spPr>
          <a:xfrm>
            <a:off x="3291840" y="1827397"/>
            <a:ext cx="2606040" cy="54864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10"/>
          <p:cNvSpPr/>
          <p:nvPr/>
        </p:nvSpPr>
        <p:spPr>
          <a:xfrm>
            <a:off x="3474720" y="2010277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</a:t>
            </a:r>
            <a:r>
              <a:rPr lang="en-US" sz="14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Integration</a:t>
            </a:r>
          </a:p>
        </p:txBody>
      </p:sp>
      <p:sp>
        <p:nvSpPr>
          <p:cNvPr id="43" name="Text 13"/>
          <p:cNvSpPr/>
          <p:nvPr/>
        </p:nvSpPr>
        <p:spPr>
          <a:xfrm>
            <a:off x="3474720" y="2315543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Ranker with real-time customer profiling and production item catalogs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fairness mitigations: 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for gender balance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Ee-ranking calibration for spending disparity</a:t>
            </a:r>
          </a:p>
          <a:p>
            <a:pPr>
              <a:lnSpc>
                <a:spcPct val="120000"/>
              </a:lnSpc>
            </a:pPr>
            <a:endParaRPr lang="en-US" sz="9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monthly Demographic Parity and Disparate Impact monitoring with automated alerts</a:t>
            </a:r>
          </a:p>
        </p:txBody>
      </p:sp>
      <p:sp>
        <p:nvSpPr>
          <p:cNvPr id="44" name="Shape 14"/>
          <p:cNvSpPr/>
          <p:nvPr/>
        </p:nvSpPr>
        <p:spPr>
          <a:xfrm>
            <a:off x="6242592" y="1827397"/>
            <a:ext cx="2606040" cy="2875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16"/>
          <p:cNvSpPr/>
          <p:nvPr/>
        </p:nvSpPr>
        <p:spPr>
          <a:xfrm>
            <a:off x="6425472" y="2010277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Scale and Enrich</a:t>
            </a:r>
            <a:endParaRPr lang="en-US" sz="1500" dirty="0"/>
          </a:p>
        </p:txBody>
      </p:sp>
      <p:sp>
        <p:nvSpPr>
          <p:cNvPr id="49" name="Text 19"/>
          <p:cNvSpPr/>
          <p:nvPr/>
        </p:nvSpPr>
        <p:spPr>
          <a:xfrm>
            <a:off x="6425472" y="2317657"/>
            <a:ext cx="2240280" cy="219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user profiles to improve low-spend segment performance with: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history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activity</a:t>
            </a:r>
          </a:p>
          <a:p>
            <a:pPr marL="171450" indent="-171450"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data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GenAI enrichment for product descriptions and conversational recommendations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fairness dashboard and monitor for feedback loops where underserved groups disengage</a:t>
            </a:r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FD9C3557-44C0-1821-9D65-8D925235C55B}"/>
              </a:ext>
            </a:extLst>
          </p:cNvPr>
          <p:cNvSpPr/>
          <p:nvPr/>
        </p:nvSpPr>
        <p:spPr>
          <a:xfrm>
            <a:off x="6242592" y="1826693"/>
            <a:ext cx="2606040" cy="54864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1">
            <a:extLst>
              <a:ext uri="{FF2B5EF4-FFF2-40B4-BE49-F238E27FC236}">
                <a16:creationId xmlns:a16="http://schemas.microsoft.com/office/drawing/2014/main" id="{4C43FA59-A961-5A61-12FD-D8B8E2734887}"/>
              </a:ext>
            </a:extLst>
          </p:cNvPr>
          <p:cNvSpPr/>
          <p:nvPr/>
        </p:nvSpPr>
        <p:spPr>
          <a:xfrm>
            <a:off x="798285" y="1427971"/>
            <a:ext cx="907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to 4</a:t>
            </a:r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38318213-3005-DA56-461E-3376DBE0261F}"/>
              </a:ext>
            </a:extLst>
          </p:cNvPr>
          <p:cNvSpPr/>
          <p:nvPr/>
        </p:nvSpPr>
        <p:spPr>
          <a:xfrm>
            <a:off x="4098165" y="1442318"/>
            <a:ext cx="907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to 13</a:t>
            </a:r>
          </a:p>
        </p:txBody>
      </p:sp>
      <p:sp>
        <p:nvSpPr>
          <p:cNvPr id="57" name="Text 1">
            <a:extLst>
              <a:ext uri="{FF2B5EF4-FFF2-40B4-BE49-F238E27FC236}">
                <a16:creationId xmlns:a16="http://schemas.microsoft.com/office/drawing/2014/main" id="{8C8C0D0F-60E1-099B-A6DF-1E618854CDA0}"/>
              </a:ext>
            </a:extLst>
          </p:cNvPr>
          <p:cNvSpPr/>
          <p:nvPr/>
        </p:nvSpPr>
        <p:spPr>
          <a:xfrm>
            <a:off x="7112278" y="1427971"/>
            <a:ext cx="907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14+</a:t>
            </a:r>
          </a:p>
        </p:txBody>
      </p:sp>
    </p:spTree>
    <p:extLst>
      <p:ext uri="{BB962C8B-B14F-4D97-AF65-F5344CB8AC3E}">
        <p14:creationId xmlns:p14="http://schemas.microsoft.com/office/powerpoint/2010/main" val="3015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4651-A444-3790-0F24-6EDA6BECD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0636BD-4E7F-0123-75A9-AE5D3C5682C4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D28D1C-6CA0-532E-1F67-06EEFA6124A6}"/>
              </a:ext>
            </a:extLst>
          </p:cNvPr>
          <p:cNvSpPr/>
          <p:nvPr/>
        </p:nvSpPr>
        <p:spPr>
          <a:xfrm>
            <a:off x="731519" y="91440"/>
            <a:ext cx="81029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Leadership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AF86D24-C2A9-F3A0-8865-29F3FF5736C1}"/>
              </a:ext>
            </a:extLst>
          </p:cNvPr>
          <p:cNvSpPr/>
          <p:nvPr/>
        </p:nvSpPr>
        <p:spPr>
          <a:xfrm>
            <a:off x="0" y="8961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enablers to move from proof-of-concept to production value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EC40F39-1B64-30AF-82DF-ECB9E5489CBB}"/>
              </a:ext>
            </a:extLst>
          </p:cNvPr>
          <p:cNvSpPr/>
          <p:nvPr/>
        </p:nvSpPr>
        <p:spPr>
          <a:xfrm>
            <a:off x="457200" y="123444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7E3B9F0-B672-96A1-003A-5074E8F9C11B}"/>
              </a:ext>
            </a:extLst>
          </p:cNvPr>
          <p:cNvSpPr/>
          <p:nvPr/>
        </p:nvSpPr>
        <p:spPr>
          <a:xfrm>
            <a:off x="457200" y="1234440"/>
            <a:ext cx="64008" cy="160020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9A10291-1BE8-872E-2BFC-BE3727E06AF6}"/>
              </a:ext>
            </a:extLst>
          </p:cNvPr>
          <p:cNvSpPr/>
          <p:nvPr/>
        </p:nvSpPr>
        <p:spPr>
          <a:xfrm>
            <a:off x="872305" y="125044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Data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37ADBB0-3270-472A-5134-CC2F26E89C10}"/>
              </a:ext>
            </a:extLst>
          </p:cNvPr>
          <p:cNvSpPr/>
          <p:nvPr/>
        </p:nvSpPr>
        <p:spPr>
          <a:xfrm>
            <a:off x="640081" y="1586484"/>
            <a:ext cx="3692768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model was built on a single-transaction dataset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Multi-transaction purchase histories, browsing behavior,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activity, and timestamps would significantly improve recommendation quality and enable temporal validation.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EBEC871-87C7-9B2C-109A-3FE32FCD68BE}"/>
              </a:ext>
            </a:extLst>
          </p:cNvPr>
          <p:cNvSpPr/>
          <p:nvPr/>
        </p:nvSpPr>
        <p:spPr>
          <a:xfrm>
            <a:off x="4754880" y="123444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7895E7A-66AB-3F33-A5DE-A33A0149F3C8}"/>
              </a:ext>
            </a:extLst>
          </p:cNvPr>
          <p:cNvSpPr/>
          <p:nvPr/>
        </p:nvSpPr>
        <p:spPr>
          <a:xfrm>
            <a:off x="4754880" y="1234440"/>
            <a:ext cx="64008" cy="1600200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F906AF0-4B9B-9809-89B6-7F3DAA036A51}"/>
              </a:ext>
            </a:extLst>
          </p:cNvPr>
          <p:cNvSpPr/>
          <p:nvPr/>
        </p:nvSpPr>
        <p:spPr>
          <a:xfrm>
            <a:off x="5215704" y="125044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B402C2F-AF15-CDC0-06A4-B8E526833265}"/>
              </a:ext>
            </a:extLst>
          </p:cNvPr>
          <p:cNvSpPr/>
          <p:nvPr/>
        </p:nvSpPr>
        <p:spPr>
          <a:xfrm>
            <a:off x="4983480" y="1566964"/>
            <a:ext cx="3520440" cy="117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the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Ranker into the production platform requires engineering resources for real-time scoring, API development, and connection to the live product catalog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supports incremental learning, making ongoing updates efficient</a:t>
            </a: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9DD9B79-04E2-4A27-B61B-1973A66CF192}"/>
              </a:ext>
            </a:extLst>
          </p:cNvPr>
          <p:cNvSpPr/>
          <p:nvPr/>
        </p:nvSpPr>
        <p:spPr>
          <a:xfrm>
            <a:off x="457200" y="310896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0983D91-D7F6-6054-C30F-041D698B3546}"/>
              </a:ext>
            </a:extLst>
          </p:cNvPr>
          <p:cNvSpPr/>
          <p:nvPr/>
        </p:nvSpPr>
        <p:spPr>
          <a:xfrm>
            <a:off x="872305" y="315739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Framework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47CED81-7D1B-BCD2-7EC6-87084CE0FF1B}"/>
              </a:ext>
            </a:extLst>
          </p:cNvPr>
          <p:cNvSpPr/>
          <p:nvPr/>
        </p:nvSpPr>
        <p:spPr>
          <a:xfrm>
            <a:off x="640080" y="3494766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deploying any model or fairness mitigation, we need controlled experiments to measure the actual impact on user engagement and revenue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will be the bridge between our offline metrics and real business outcomes</a:t>
            </a:r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1FA53EF0-5256-6F02-D3D7-C1D3561FF572}"/>
              </a:ext>
            </a:extLst>
          </p:cNvPr>
          <p:cNvSpPr/>
          <p:nvPr/>
        </p:nvSpPr>
        <p:spPr>
          <a:xfrm>
            <a:off x="4754880" y="310896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01349A86-9C10-796F-6E1B-2CC68945E4CD}"/>
              </a:ext>
            </a:extLst>
          </p:cNvPr>
          <p:cNvSpPr/>
          <p:nvPr/>
        </p:nvSpPr>
        <p:spPr>
          <a:xfrm>
            <a:off x="5215704" y="3152955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Governance Agreement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2414C3E9-D54B-9FB0-C5A2-2EA2FF1BFE17}"/>
              </a:ext>
            </a:extLst>
          </p:cNvPr>
          <p:cNvSpPr/>
          <p:nvPr/>
        </p:nvSpPr>
        <p:spPr>
          <a:xfrm>
            <a:off x="4983480" y="3494766"/>
            <a:ext cx="3520440" cy="1128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 audit surfaced a strategic question: </a:t>
            </a:r>
          </a:p>
          <a:p>
            <a:pPr marL="628650" lvl="1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optimize for high-value customers or serve all segments equally?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alignment on this trade-off determines which mitigations we apply and how we monitor the system going forward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4E49272-2F2E-A23B-0911-EC7F34143AEC}"/>
              </a:ext>
            </a:extLst>
          </p:cNvPr>
          <p:cNvSpPr/>
          <p:nvPr/>
        </p:nvSpPr>
        <p:spPr>
          <a:xfrm>
            <a:off x="467005" y="3108960"/>
            <a:ext cx="64008" cy="160020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F87AB3E0-6AD9-481B-1BA3-2E416AE4672C}"/>
              </a:ext>
            </a:extLst>
          </p:cNvPr>
          <p:cNvSpPr/>
          <p:nvPr/>
        </p:nvSpPr>
        <p:spPr>
          <a:xfrm>
            <a:off x="4758505" y="3108960"/>
            <a:ext cx="64008" cy="1600200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B7190A-0B2A-0193-0CA1-53E2B2079F55}"/>
              </a:ext>
            </a:extLst>
          </p:cNvPr>
          <p:cNvSpPr/>
          <p:nvPr/>
        </p:nvSpPr>
        <p:spPr>
          <a:xfrm>
            <a:off x="567794" y="1296327"/>
            <a:ext cx="243263" cy="249952"/>
          </a:xfrm>
          <a:prstGeom prst="rect">
            <a:avLst/>
          </a:prstGeom>
          <a:solidFill>
            <a:srgbClr val="2E8B8B"/>
          </a:solidFill>
          <a:ln/>
        </p:spPr>
        <p:txBody>
          <a:bodyPr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505A81-05B8-A68A-48FF-EFF8D46ECCE6}"/>
              </a:ext>
            </a:extLst>
          </p:cNvPr>
          <p:cNvSpPr/>
          <p:nvPr/>
        </p:nvSpPr>
        <p:spPr>
          <a:xfrm>
            <a:off x="4917436" y="1281315"/>
            <a:ext cx="243263" cy="249952"/>
          </a:xfrm>
          <a:prstGeom prst="rect">
            <a:avLst/>
          </a:prstGeom>
          <a:solidFill>
            <a:srgbClr val="D4820C"/>
          </a:solidFill>
          <a:ln/>
        </p:spPr>
        <p:txBody>
          <a:bodyPr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02F040-ED12-3570-DAC1-0645F73A9C3F}"/>
              </a:ext>
            </a:extLst>
          </p:cNvPr>
          <p:cNvSpPr/>
          <p:nvPr/>
        </p:nvSpPr>
        <p:spPr>
          <a:xfrm>
            <a:off x="567794" y="3192442"/>
            <a:ext cx="243263" cy="249952"/>
          </a:xfrm>
          <a:prstGeom prst="rect">
            <a:avLst/>
          </a:prstGeom>
          <a:solidFill>
            <a:srgbClr val="2E8B8B"/>
          </a:solidFill>
          <a:ln/>
        </p:spPr>
        <p:txBody>
          <a:bodyPr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0CE817-C65E-26FF-245F-16882D03F964}"/>
              </a:ext>
            </a:extLst>
          </p:cNvPr>
          <p:cNvSpPr/>
          <p:nvPr/>
        </p:nvSpPr>
        <p:spPr>
          <a:xfrm>
            <a:off x="4917436" y="3185185"/>
            <a:ext cx="243263" cy="249952"/>
          </a:xfrm>
          <a:prstGeom prst="rect">
            <a:avLst/>
          </a:prstGeom>
          <a:solidFill>
            <a:srgbClr val="D4820C"/>
          </a:solidFill>
          <a:ln/>
        </p:spPr>
        <p:txBody>
          <a:bodyPr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23805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0C90A-1A69-962B-F6D2-BE1042F6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1"/>
          <p:cNvSpPr/>
          <p:nvPr/>
        </p:nvSpPr>
        <p:spPr>
          <a:xfrm>
            <a:off x="0" y="640080"/>
            <a:ext cx="109728" cy="365760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2"/>
          <p:cNvSpPr/>
          <p:nvPr/>
        </p:nvSpPr>
        <p:spPr>
          <a:xfrm>
            <a:off x="640080" y="548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11" name="Shape 3"/>
          <p:cNvSpPr/>
          <p:nvPr/>
        </p:nvSpPr>
        <p:spPr>
          <a:xfrm>
            <a:off x="640080" y="1183641"/>
            <a:ext cx="2286000" cy="13716"/>
          </a:xfrm>
          <a:prstGeom prst="rect">
            <a:avLst/>
          </a:prstGeom>
          <a:solidFill>
            <a:srgbClr val="2E8B8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4"/>
          <p:cNvSpPr/>
          <p:nvPr/>
        </p:nvSpPr>
        <p:spPr>
          <a:xfrm>
            <a:off x="640080" y="13636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7.9%</a:t>
            </a:r>
            <a:endParaRPr lang="en-US" sz="1800" dirty="0"/>
          </a:p>
        </p:txBody>
      </p:sp>
      <p:sp>
        <p:nvSpPr>
          <p:cNvPr id="13" name="Text 5"/>
          <p:cNvSpPr/>
          <p:nvPr/>
        </p:nvSpPr>
        <p:spPr>
          <a:xfrm>
            <a:off x="1828800" y="13636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recommendation quality. The XGBoost Ranker outperforms the popularity baseline, with 39% of customers seeing their preferred product in the top 10.</a:t>
            </a:r>
            <a:endParaRPr lang="en-US" sz="1250" dirty="0"/>
          </a:p>
        </p:txBody>
      </p:sp>
      <p:sp>
        <p:nvSpPr>
          <p:cNvPr id="14" name="Shape 6"/>
          <p:cNvSpPr/>
          <p:nvPr/>
        </p:nvSpPr>
        <p:spPr>
          <a:xfrm>
            <a:off x="640080" y="2083095"/>
            <a:ext cx="7772400" cy="9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7"/>
          <p:cNvSpPr/>
          <p:nvPr/>
        </p:nvSpPr>
        <p:spPr>
          <a:xfrm>
            <a:off x="640080" y="22323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482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Audited</a:t>
            </a:r>
            <a:endParaRPr lang="en-US" sz="1800" dirty="0"/>
          </a:p>
        </p:txBody>
      </p:sp>
      <p:sp>
        <p:nvSpPr>
          <p:cNvPr id="16" name="Text 8"/>
          <p:cNvSpPr/>
          <p:nvPr/>
        </p:nvSpPr>
        <p:spPr>
          <a:xfrm>
            <a:off x="1828800" y="22323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fairness across gender, age, and spending levels. Gaps were found, mitigations were proposed, and a monitoring framework was designed before recommending deployment.</a:t>
            </a:r>
            <a:endParaRPr lang="en-US" sz="1250" dirty="0"/>
          </a:p>
        </p:txBody>
      </p:sp>
      <p:sp>
        <p:nvSpPr>
          <p:cNvPr id="17" name="Shape 9"/>
          <p:cNvSpPr/>
          <p:nvPr/>
        </p:nvSpPr>
        <p:spPr>
          <a:xfrm>
            <a:off x="640080" y="2951775"/>
            <a:ext cx="7772400" cy="9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/>
          <p:cNvSpPr/>
          <p:nvPr/>
        </p:nvSpPr>
        <p:spPr>
          <a:xfrm>
            <a:off x="640080" y="31009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1828800" y="31009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roadmap. Three phases from baseline deployment to XGBoost integration to GenAI enrichment, with A/B testing at every stage.</a:t>
            </a:r>
            <a:endParaRPr lang="en-US" sz="1250" dirty="0"/>
          </a:p>
        </p:txBody>
      </p:sp>
      <p:sp>
        <p:nvSpPr>
          <p:cNvPr id="20" name="Shape 12"/>
          <p:cNvSpPr/>
          <p:nvPr/>
        </p:nvSpPr>
        <p:spPr>
          <a:xfrm>
            <a:off x="640080" y="3834969"/>
            <a:ext cx="7772400" cy="9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640080" y="39696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482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Modest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1828800" y="3969660"/>
            <a:ext cx="6583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required. Richer data, engineering support, an A/B framework, and a governance agreement on fairness are the four enablers to move from proof-of-concept to production value.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0" y="470001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C. Flores Jr.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Director, Business Excellence  |  AIM AIML Capstone Project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48259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1547</Words>
  <Application>Microsoft Office PowerPoint</Application>
  <PresentationFormat>On-screen Show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Product Recommendations: Business Case</dc:title>
  <dc:subject>PptxGenJS Presentation</dc:subject>
  <dc:creator>Arthur C. Flores Jr.</dc:creator>
  <cp:lastModifiedBy>Sarah May Flores</cp:lastModifiedBy>
  <cp:revision>6</cp:revision>
  <dcterms:created xsi:type="dcterms:W3CDTF">2026-03-29T11:30:04Z</dcterms:created>
  <dcterms:modified xsi:type="dcterms:W3CDTF">2026-03-29T15:24:39Z</dcterms:modified>
</cp:coreProperties>
</file>